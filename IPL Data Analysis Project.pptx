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4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87" d="100"/>
          <a:sy n="87" d="100"/>
        </p:scale>
        <p:origin x="94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ypz.xm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ypz6.xm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ypz8.xm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ypz10.xm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3333555.xml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ram03.xml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ram04444444.xml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ram0777@@@.xml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ram05555@@@.xml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ypz11xml5.xmRAM.xml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ram0@@@@%23%23%23%23.xml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Strike_Name</a:t>
            </a:r>
            <a:r>
              <a:rPr lang="en-US" baseline="0"/>
              <a:t> V/s Player_name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Table1!$D$1</c:f>
              <c:strCache>
                <c:ptCount val="1"/>
                <c:pt idx="0">
                  <c:v>Strike_Rate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Table1!$A$2:$C$11</c:f>
              <c:multiLvlStrCache>
                <c:ptCount val="10"/>
                <c:lvl>
                  <c:pt idx="0">
                    <c:v>1</c:v>
                  </c:pt>
                  <c:pt idx="1">
                    <c:v>6</c:v>
                  </c:pt>
                  <c:pt idx="2">
                    <c:v>40</c:v>
                  </c:pt>
                  <c:pt idx="3">
                    <c:v>2</c:v>
                  </c:pt>
                  <c:pt idx="4">
                    <c:v>27</c:v>
                  </c:pt>
                  <c:pt idx="5">
                    <c:v>127</c:v>
                  </c:pt>
                  <c:pt idx="6">
                    <c:v>12</c:v>
                  </c:pt>
                  <c:pt idx="7">
                    <c:v>38</c:v>
                  </c:pt>
                  <c:pt idx="8">
                    <c:v>103</c:v>
                  </c:pt>
                  <c:pt idx="9">
                    <c:v>43</c:v>
                  </c:pt>
                </c:lvl>
                <c:lvl>
                  <c:pt idx="0">
                    <c:v>4</c:v>
                  </c:pt>
                  <c:pt idx="1">
                    <c:v>14</c:v>
                  </c:pt>
                  <c:pt idx="2">
                    <c:v>83</c:v>
                  </c:pt>
                  <c:pt idx="3">
                    <c:v>4</c:v>
                  </c:pt>
                  <c:pt idx="4">
                    <c:v>52</c:v>
                  </c:pt>
                  <c:pt idx="5">
                    <c:v>237</c:v>
                  </c:pt>
                  <c:pt idx="6">
                    <c:v>21</c:v>
                  </c:pt>
                  <c:pt idx="7">
                    <c:v>66</c:v>
                  </c:pt>
                  <c:pt idx="8">
                    <c:v>177</c:v>
                  </c:pt>
                  <c:pt idx="9">
                    <c:v>73</c:v>
                  </c:pt>
                </c:lvl>
                <c:lvl>
                  <c:pt idx="0">
                    <c:v>RV Gomez</c:v>
                  </c:pt>
                  <c:pt idx="1">
                    <c:v>AN Ahmed</c:v>
                  </c:pt>
                  <c:pt idx="2">
                    <c:v>CR Brathwaite</c:v>
                  </c:pt>
                  <c:pt idx="3">
                    <c:v>PJ Sangwan</c:v>
                  </c:pt>
                  <c:pt idx="4">
                    <c:v>Bipul Sharma</c:v>
                  </c:pt>
                  <c:pt idx="5">
                    <c:v>KH Pandya</c:v>
                  </c:pt>
                  <c:pt idx="6">
                    <c:v>B Lee</c:v>
                  </c:pt>
                  <c:pt idx="7">
                    <c:v>M Morkel</c:v>
                  </c:pt>
                  <c:pt idx="8">
                    <c:v>SN Khan</c:v>
                  </c:pt>
                  <c:pt idx="9">
                    <c:v>BCJ Cutting</c:v>
                  </c:pt>
                </c:lvl>
              </c:multiLvlStrCache>
            </c:multiLvlStrRef>
          </c:cat>
          <c:val>
            <c:numRef>
              <c:f>Table1!$D$2:$D$11</c:f>
              <c:numCache>
                <c:formatCode>General</c:formatCode>
                <c:ptCount val="10"/>
                <c:pt idx="0">
                  <c:v>400</c:v>
                </c:pt>
                <c:pt idx="1">
                  <c:v>233.33</c:v>
                </c:pt>
                <c:pt idx="2">
                  <c:v>207.5</c:v>
                </c:pt>
                <c:pt idx="3">
                  <c:v>200</c:v>
                </c:pt>
                <c:pt idx="4">
                  <c:v>192.59</c:v>
                </c:pt>
                <c:pt idx="5">
                  <c:v>186.61</c:v>
                </c:pt>
                <c:pt idx="6">
                  <c:v>175</c:v>
                </c:pt>
                <c:pt idx="7">
                  <c:v>173.68</c:v>
                </c:pt>
                <c:pt idx="8">
                  <c:v>171.84</c:v>
                </c:pt>
                <c:pt idx="9">
                  <c:v>169.77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C-46CF-88FE-59FBD04CF5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69391568"/>
        <c:axId val="269411248"/>
      </c:barChart>
      <c:catAx>
        <c:axId val="2693915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Player_Name</a:t>
                </a:r>
              </a:p>
            </c:rich>
          </c:tx>
          <c:layout>
            <c:manualLayout>
              <c:xMode val="edge"/>
              <c:yMode val="edge"/>
              <c:x val="0.47200568678915134"/>
              <c:y val="0.897198891805190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9411248"/>
        <c:crosses val="autoZero"/>
        <c:auto val="1"/>
        <c:lblAlgn val="ctr"/>
        <c:lblOffset val="100"/>
        <c:noMultiLvlLbl val="0"/>
      </c:catAx>
      <c:valAx>
        <c:axId val="2694112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Strike_Rate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2860072178477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9391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Avg_Runs v/s</a:t>
            </a:r>
            <a:r>
              <a:rPr lang="en-US" baseline="0"/>
              <a:t> Player_Name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Avg_Runs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Table1!$A$2:$A$10</c:f>
              <c:strCache>
                <c:ptCount val="9"/>
                <c:pt idx="0">
                  <c:v>RV Gomez</c:v>
                </c:pt>
                <c:pt idx="1">
                  <c:v>AN Ahmed</c:v>
                </c:pt>
                <c:pt idx="2">
                  <c:v>CR Brathwaite</c:v>
                </c:pt>
                <c:pt idx="3">
                  <c:v>PJ Sangwan</c:v>
                </c:pt>
                <c:pt idx="4">
                  <c:v>Bipul Sharma</c:v>
                </c:pt>
                <c:pt idx="5">
                  <c:v>KH Pandya</c:v>
                </c:pt>
                <c:pt idx="6">
                  <c:v>M Morkel</c:v>
                </c:pt>
                <c:pt idx="7">
                  <c:v>BCJ Cutting</c:v>
                </c:pt>
                <c:pt idx="8">
                  <c:v>B Lee</c:v>
                </c:pt>
              </c:strCache>
            </c:strRef>
          </c:cat>
          <c:val>
            <c:numRef>
              <c:f>Table1!$B$2:$B$10</c:f>
              <c:numCache>
                <c:formatCode>General</c:formatCode>
                <c:ptCount val="9"/>
                <c:pt idx="0">
                  <c:v>4</c:v>
                </c:pt>
                <c:pt idx="1">
                  <c:v>2.33</c:v>
                </c:pt>
                <c:pt idx="2">
                  <c:v>2.1800000000000002</c:v>
                </c:pt>
                <c:pt idx="3">
                  <c:v>2</c:v>
                </c:pt>
                <c:pt idx="4">
                  <c:v>1.93</c:v>
                </c:pt>
                <c:pt idx="5">
                  <c:v>1.91</c:v>
                </c:pt>
                <c:pt idx="6">
                  <c:v>1.83</c:v>
                </c:pt>
                <c:pt idx="7">
                  <c:v>1.83</c:v>
                </c:pt>
                <c:pt idx="8">
                  <c:v>1.75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DB-4E49-885C-692ECD68D2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99852656"/>
        <c:axId val="299853136"/>
      </c:barChart>
      <c:catAx>
        <c:axId val="299852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Player_Name</a:t>
                </a:r>
              </a:p>
            </c:rich>
          </c:tx>
          <c:layout>
            <c:manualLayout>
              <c:xMode val="edge"/>
              <c:yMode val="edge"/>
              <c:x val="0.47170013123359578"/>
              <c:y val="0.9064581510644502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9853136"/>
        <c:crosses val="autoZero"/>
        <c:auto val="1"/>
        <c:lblAlgn val="ctr"/>
        <c:lblOffset val="100"/>
        <c:noMultiLvlLbl val="0"/>
      </c:catAx>
      <c:valAx>
        <c:axId val="29985313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Avg_Runs</a:t>
                </a:r>
              </a:p>
            </c:rich>
          </c:tx>
          <c:layout>
            <c:manualLayout>
              <c:xMode val="edge"/>
              <c:yMode val="edge"/>
              <c:x val="1.6666666666666666E-2"/>
              <c:y val="0.3045713035870516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9852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Avg_Runs with Total_Wickets v/s Player_Name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Avg_Runs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Table1!$A$2:$A$15</c:f>
              <c:strCache>
                <c:ptCount val="14"/>
                <c:pt idx="0">
                  <c:v>AN Ahmed</c:v>
                </c:pt>
                <c:pt idx="1">
                  <c:v>Bipul Sharma</c:v>
                </c:pt>
                <c:pt idx="2">
                  <c:v>KH Pandya</c:v>
                </c:pt>
                <c:pt idx="3">
                  <c:v>M Morkel</c:v>
                </c:pt>
                <c:pt idx="4">
                  <c:v>MS Gony</c:v>
                </c:pt>
                <c:pt idx="5">
                  <c:v>AD Russell</c:v>
                </c:pt>
                <c:pt idx="6">
                  <c:v>HV Patel</c:v>
                </c:pt>
                <c:pt idx="7">
                  <c:v>CH Morris</c:v>
                </c:pt>
                <c:pt idx="8">
                  <c:v>KK Cooper</c:v>
                </c:pt>
                <c:pt idx="9">
                  <c:v>MJ McClenaghan</c:v>
                </c:pt>
                <c:pt idx="10">
                  <c:v>J Suchith</c:v>
                </c:pt>
                <c:pt idx="11">
                  <c:v>A Ashish Reddy</c:v>
                </c:pt>
                <c:pt idx="12">
                  <c:v>KA Pollard</c:v>
                </c:pt>
                <c:pt idx="13">
                  <c:v>TG Southee</c:v>
                </c:pt>
              </c:strCache>
            </c:strRef>
          </c:cat>
          <c:val>
            <c:numRef>
              <c:f>Table1!$B$2:$B$15</c:f>
              <c:numCache>
                <c:formatCode>General</c:formatCode>
                <c:ptCount val="14"/>
                <c:pt idx="0">
                  <c:v>2.3332999999999999</c:v>
                </c:pt>
                <c:pt idx="1">
                  <c:v>1.9258999999999999</c:v>
                </c:pt>
                <c:pt idx="2">
                  <c:v>1.9113</c:v>
                </c:pt>
                <c:pt idx="3">
                  <c:v>1.8332999999999999</c:v>
                </c:pt>
                <c:pt idx="4">
                  <c:v>1.7307999999999999</c:v>
                </c:pt>
                <c:pt idx="5">
                  <c:v>1.7222</c:v>
                </c:pt>
                <c:pt idx="6">
                  <c:v>1.6841999999999999</c:v>
                </c:pt>
                <c:pt idx="7">
                  <c:v>1.6667000000000001</c:v>
                </c:pt>
                <c:pt idx="8">
                  <c:v>1.625</c:v>
                </c:pt>
                <c:pt idx="9">
                  <c:v>1.6207</c:v>
                </c:pt>
                <c:pt idx="10">
                  <c:v>1.5</c:v>
                </c:pt>
                <c:pt idx="11">
                  <c:v>1.4939</c:v>
                </c:pt>
                <c:pt idx="12">
                  <c:v>1.4864999999999999</c:v>
                </c:pt>
                <c:pt idx="13">
                  <c:v>1.4688000000000001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9C-480D-94D3-FA3B88A223A1}"/>
            </c:ext>
          </c:extLst>
        </c:ser>
        <c:ser>
          <c:idx val="1"/>
          <c:order val="1"/>
          <c:tx>
            <c:strRef>
              <c:f>Table1!$C$1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Table1!$A$2:$A$15</c:f>
              <c:strCache>
                <c:ptCount val="14"/>
                <c:pt idx="0">
                  <c:v>AN Ahmed</c:v>
                </c:pt>
                <c:pt idx="1">
                  <c:v>Bipul Sharma</c:v>
                </c:pt>
                <c:pt idx="2">
                  <c:v>KH Pandya</c:v>
                </c:pt>
                <c:pt idx="3">
                  <c:v>M Morkel</c:v>
                </c:pt>
                <c:pt idx="4">
                  <c:v>MS Gony</c:v>
                </c:pt>
                <c:pt idx="5">
                  <c:v>AD Russell</c:v>
                </c:pt>
                <c:pt idx="6">
                  <c:v>HV Patel</c:v>
                </c:pt>
                <c:pt idx="7">
                  <c:v>CH Morris</c:v>
                </c:pt>
                <c:pt idx="8">
                  <c:v>KK Cooper</c:v>
                </c:pt>
                <c:pt idx="9">
                  <c:v>MJ McClenaghan</c:v>
                </c:pt>
                <c:pt idx="10">
                  <c:v>J Suchith</c:v>
                </c:pt>
                <c:pt idx="11">
                  <c:v>A Ashish Reddy</c:v>
                </c:pt>
                <c:pt idx="12">
                  <c:v>KA Pollard</c:v>
                </c:pt>
                <c:pt idx="13">
                  <c:v>TG Southee</c:v>
                </c:pt>
              </c:strCache>
            </c:strRef>
          </c:cat>
          <c:val>
            <c:numRef>
              <c:f>Table1!$C$2:$C$15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9C-480D-94D3-FA3B88A223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668746496"/>
        <c:axId val="1668740736"/>
      </c:barChart>
      <c:catAx>
        <c:axId val="166874649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Avg_Runs with Total_Wickets</a:t>
                </a:r>
              </a:p>
            </c:rich>
          </c:tx>
          <c:layout>
            <c:manualLayout>
              <c:xMode val="edge"/>
              <c:yMode val="edge"/>
              <c:x val="8.3333333333333332E-3"/>
              <c:y val="0.199459755030621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740736"/>
        <c:crosses val="autoZero"/>
        <c:auto val="1"/>
        <c:lblAlgn val="ctr"/>
        <c:lblOffset val="100"/>
        <c:noMultiLvlLbl val="0"/>
      </c:catAx>
      <c:valAx>
        <c:axId val="16687407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Player_Name</a:t>
                </a:r>
              </a:p>
            </c:rich>
          </c:tx>
          <c:layout>
            <c:manualLayout>
              <c:xMode val="edge"/>
              <c:yMode val="edge"/>
              <c:x val="0.39866994750656165"/>
              <c:y val="0.9064581510644502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746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Total_Wickets v/s </a:t>
            </a: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Bowling_Style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Table1!$A$2:$A$14</c:f>
              <c:strCache>
                <c:ptCount val="13"/>
                <c:pt idx="0">
                  <c:v>Right-arm medium</c:v>
                </c:pt>
                <c:pt idx="1">
                  <c:v>Right-arm fast-medium</c:v>
                </c:pt>
                <c:pt idx="2">
                  <c:v>Right-arm medium-fast</c:v>
                </c:pt>
                <c:pt idx="3">
                  <c:v>Right-arm offbreak</c:v>
                </c:pt>
                <c:pt idx="4">
                  <c:v>Slow left-arm orthodox</c:v>
                </c:pt>
                <c:pt idx="5">
                  <c:v>Right-arm fast</c:v>
                </c:pt>
                <c:pt idx="6">
                  <c:v>Left-arm fast-medium</c:v>
                </c:pt>
                <c:pt idx="7">
                  <c:v>Legbreak</c:v>
                </c:pt>
                <c:pt idx="8">
                  <c:v>Legbreak googly</c:v>
                </c:pt>
                <c:pt idx="9">
                  <c:v>Left-arm medium-fast</c:v>
                </c:pt>
                <c:pt idx="10">
                  <c:v>Left-arm fast</c:v>
                </c:pt>
                <c:pt idx="11">
                  <c:v>Left-arm medium</c:v>
                </c:pt>
                <c:pt idx="12">
                  <c:v>Slow left-arm chinaman</c:v>
                </c:pt>
              </c:strCache>
            </c:strRef>
          </c:cat>
          <c:val>
            <c:numRef>
              <c:f>Table1!$B$2:$B$14</c:f>
              <c:numCache>
                <c:formatCode>General</c:formatCode>
                <c:ptCount val="13"/>
                <c:pt idx="0">
                  <c:v>1173</c:v>
                </c:pt>
                <c:pt idx="1">
                  <c:v>735</c:v>
                </c:pt>
                <c:pt idx="2">
                  <c:v>642</c:v>
                </c:pt>
                <c:pt idx="3">
                  <c:v>586</c:v>
                </c:pt>
                <c:pt idx="4">
                  <c:v>567</c:v>
                </c:pt>
                <c:pt idx="5">
                  <c:v>453</c:v>
                </c:pt>
                <c:pt idx="6">
                  <c:v>349</c:v>
                </c:pt>
                <c:pt idx="7">
                  <c:v>289</c:v>
                </c:pt>
                <c:pt idx="8">
                  <c:v>284</c:v>
                </c:pt>
                <c:pt idx="9">
                  <c:v>211</c:v>
                </c:pt>
                <c:pt idx="10">
                  <c:v>180</c:v>
                </c:pt>
                <c:pt idx="11">
                  <c:v>81</c:v>
                </c:pt>
                <c:pt idx="12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96-4E9B-B54D-237661007A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21977360"/>
        <c:axId val="1721978320"/>
      </c:barChart>
      <c:catAx>
        <c:axId val="17219773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Total_Wickets</a:t>
                </a:r>
              </a:p>
            </c:rich>
          </c:tx>
          <c:layout>
            <c:manualLayout>
              <c:xMode val="edge"/>
              <c:yMode val="edge"/>
              <c:x val="0.46600568678915133"/>
              <c:y val="0.9064581510644502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1978320"/>
        <c:crosses val="autoZero"/>
        <c:auto val="1"/>
        <c:lblAlgn val="ctr"/>
        <c:lblOffset val="100"/>
        <c:noMultiLvlLbl val="0"/>
      </c:catAx>
      <c:valAx>
        <c:axId val="17219783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Bowling_Style</a:t>
                </a:r>
              </a:p>
            </c:rich>
          </c:tx>
          <c:layout>
            <c:manualLayout>
              <c:xMode val="edge"/>
              <c:yMode val="edge"/>
              <c:x val="1.1111111111111112E-2"/>
              <c:y val="0.2051370662000582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1977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Total_Runs and Total_Wickets v/s Player_Name </a:t>
            </a:r>
          </a:p>
        </c:rich>
      </c:tx>
      <c:layout>
        <c:manualLayout>
          <c:xMode val="edge"/>
          <c:yMode val="edge"/>
          <c:x val="0.13254155730533684"/>
          <c:y val="1.38888888888888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Total_Runs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Table1!$A$2:$A$15</c:f>
              <c:strCache>
                <c:ptCount val="14"/>
                <c:pt idx="0">
                  <c:v>V Kohli</c:v>
                </c:pt>
                <c:pt idx="1">
                  <c:v>DA Warner</c:v>
                </c:pt>
                <c:pt idx="2">
                  <c:v>AB de Villiers</c:v>
                </c:pt>
                <c:pt idx="3">
                  <c:v>RG Sharma</c:v>
                </c:pt>
                <c:pt idx="4">
                  <c:v>RV Uthappa</c:v>
                </c:pt>
                <c:pt idx="5">
                  <c:v>AM Rahane</c:v>
                </c:pt>
                <c:pt idx="6">
                  <c:v>SK Raina</c:v>
                </c:pt>
                <c:pt idx="7">
                  <c:v>DR Smith</c:v>
                </c:pt>
                <c:pt idx="8">
                  <c:v>CH Gayle</c:v>
                </c:pt>
                <c:pt idx="9">
                  <c:v>G Gambhir</c:v>
                </c:pt>
                <c:pt idx="10">
                  <c:v>S Dhawan</c:v>
                </c:pt>
                <c:pt idx="11">
                  <c:v>MS Dhoni</c:v>
                </c:pt>
                <c:pt idx="12">
                  <c:v>DA Miller</c:v>
                </c:pt>
                <c:pt idx="13">
                  <c:v>KA Pollard</c:v>
                </c:pt>
              </c:strCache>
            </c:strRef>
          </c:cat>
          <c:val>
            <c:numRef>
              <c:f>Table1!$B$2:$B$15</c:f>
              <c:numCache>
                <c:formatCode>General</c:formatCode>
                <c:ptCount val="14"/>
                <c:pt idx="0">
                  <c:v>2472</c:v>
                </c:pt>
                <c:pt idx="1">
                  <c:v>2348</c:v>
                </c:pt>
                <c:pt idx="2">
                  <c:v>1968</c:v>
                </c:pt>
                <c:pt idx="3">
                  <c:v>1899</c:v>
                </c:pt>
                <c:pt idx="4">
                  <c:v>1852</c:v>
                </c:pt>
                <c:pt idx="5">
                  <c:v>1847</c:v>
                </c:pt>
                <c:pt idx="6">
                  <c:v>1844</c:v>
                </c:pt>
                <c:pt idx="7">
                  <c:v>1707</c:v>
                </c:pt>
                <c:pt idx="8">
                  <c:v>1634</c:v>
                </c:pt>
                <c:pt idx="9">
                  <c:v>1569</c:v>
                </c:pt>
                <c:pt idx="10">
                  <c:v>1542</c:v>
                </c:pt>
                <c:pt idx="11">
                  <c:v>1488</c:v>
                </c:pt>
                <c:pt idx="12">
                  <c:v>1382</c:v>
                </c:pt>
                <c:pt idx="13">
                  <c:v>1320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99-450C-B5AE-3225B6407BDC}"/>
            </c:ext>
          </c:extLst>
        </c:ser>
        <c:ser>
          <c:idx val="1"/>
          <c:order val="1"/>
          <c:tx>
            <c:strRef>
              <c:f>Table1!$C$1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Table1!$A$2:$A$15</c:f>
              <c:strCache>
                <c:ptCount val="14"/>
                <c:pt idx="0">
                  <c:v>V Kohli</c:v>
                </c:pt>
                <c:pt idx="1">
                  <c:v>DA Warner</c:v>
                </c:pt>
                <c:pt idx="2">
                  <c:v>AB de Villiers</c:v>
                </c:pt>
                <c:pt idx="3">
                  <c:v>RG Sharma</c:v>
                </c:pt>
                <c:pt idx="4">
                  <c:v>RV Uthappa</c:v>
                </c:pt>
                <c:pt idx="5">
                  <c:v>AM Rahane</c:v>
                </c:pt>
                <c:pt idx="6">
                  <c:v>SK Raina</c:v>
                </c:pt>
                <c:pt idx="7">
                  <c:v>DR Smith</c:v>
                </c:pt>
                <c:pt idx="8">
                  <c:v>CH Gayle</c:v>
                </c:pt>
                <c:pt idx="9">
                  <c:v>G Gambhir</c:v>
                </c:pt>
                <c:pt idx="10">
                  <c:v>S Dhawan</c:v>
                </c:pt>
                <c:pt idx="11">
                  <c:v>MS Dhoni</c:v>
                </c:pt>
                <c:pt idx="12">
                  <c:v>DA Miller</c:v>
                </c:pt>
                <c:pt idx="13">
                  <c:v>KA Pollard</c:v>
                </c:pt>
              </c:strCache>
            </c:strRef>
          </c:cat>
          <c:val>
            <c:numRef>
              <c:f>Table1!$C$2:$C$15</c:f>
              <c:numCache>
                <c:formatCode>General</c:formatCode>
                <c:ptCount val="1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16</c:v>
                </c:pt>
                <c:pt idx="7">
                  <c:v>25</c:v>
                </c:pt>
                <c:pt idx="8">
                  <c:v>10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99-450C-B5AE-3225B6407B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41160272"/>
        <c:axId val="1454040336"/>
      </c:barChart>
      <c:catAx>
        <c:axId val="14411602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Player_Name</a:t>
                </a:r>
              </a:p>
            </c:rich>
          </c:tx>
          <c:layout>
            <c:manualLayout>
              <c:xMode val="edge"/>
              <c:yMode val="edge"/>
              <c:x val="0.47278346456692921"/>
              <c:y val="0.81907334499854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040336"/>
        <c:crosses val="autoZero"/>
        <c:auto val="1"/>
        <c:lblAlgn val="ctr"/>
        <c:lblOffset val="100"/>
        <c:noMultiLvlLbl val="0"/>
      </c:catAx>
      <c:valAx>
        <c:axId val="145404033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Total_Runs and Total_Wickets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2133796296296296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116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Player_Name</a:t>
            </a:r>
            <a:r>
              <a:rPr lang="en-IN" baseline="0"/>
              <a:t> v/s Total_Runs and Total_Wickets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Total_Runs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Table1!$A$2:$A$15</c:f>
              <c:strCache>
                <c:ptCount val="14"/>
                <c:pt idx="0">
                  <c:v>CH Gayle</c:v>
                </c:pt>
                <c:pt idx="1">
                  <c:v>SR Watson</c:v>
                </c:pt>
                <c:pt idx="2">
                  <c:v>DR Smith</c:v>
                </c:pt>
                <c:pt idx="3">
                  <c:v>SK Raina</c:v>
                </c:pt>
                <c:pt idx="4">
                  <c:v>AJ Finch</c:v>
                </c:pt>
                <c:pt idx="5">
                  <c:v>RG Sharma</c:v>
                </c:pt>
                <c:pt idx="6">
                  <c:v>KA Pollard</c:v>
                </c:pt>
                <c:pt idx="7">
                  <c:v>JH Kallis</c:v>
                </c:pt>
                <c:pt idx="8">
                  <c:v>STR Binny</c:v>
                </c:pt>
                <c:pt idx="9">
                  <c:v>Yuvraj Singh</c:v>
                </c:pt>
                <c:pt idx="10">
                  <c:v>YK Pathan</c:v>
                </c:pt>
                <c:pt idx="11">
                  <c:v>GJ Maxwell</c:v>
                </c:pt>
                <c:pt idx="12">
                  <c:v>AC Gilchrist</c:v>
                </c:pt>
                <c:pt idx="13">
                  <c:v>RA Jadeja</c:v>
                </c:pt>
              </c:strCache>
            </c:strRef>
          </c:xVal>
          <c:yVal>
            <c:numRef>
              <c:f>Table1!$B$2:$B$15</c:f>
              <c:numCache>
                <c:formatCode>General</c:formatCode>
                <c:ptCount val="14"/>
                <c:pt idx="0">
                  <c:v>740</c:v>
                </c:pt>
                <c:pt idx="1">
                  <c:v>666</c:v>
                </c:pt>
                <c:pt idx="2">
                  <c:v>658</c:v>
                </c:pt>
                <c:pt idx="3">
                  <c:v>647</c:v>
                </c:pt>
                <c:pt idx="4">
                  <c:v>625</c:v>
                </c:pt>
                <c:pt idx="5">
                  <c:v>622</c:v>
                </c:pt>
                <c:pt idx="6">
                  <c:v>552</c:v>
                </c:pt>
                <c:pt idx="7">
                  <c:v>448</c:v>
                </c:pt>
                <c:pt idx="8">
                  <c:v>361</c:v>
                </c:pt>
                <c:pt idx="9">
                  <c:v>359</c:v>
                </c:pt>
                <c:pt idx="10">
                  <c:v>350</c:v>
                </c:pt>
                <c:pt idx="11">
                  <c:v>336</c:v>
                </c:pt>
                <c:pt idx="12">
                  <c:v>294</c:v>
                </c:pt>
                <c:pt idx="13">
                  <c:v>250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9E8-48F2-8004-07AD634D96D9}"/>
            </c:ext>
          </c:extLst>
        </c:ser>
        <c:ser>
          <c:idx val="1"/>
          <c:order val="1"/>
          <c:tx>
            <c:strRef>
              <c:f>Table1!$C$1</c:f>
              <c:strCache>
                <c:ptCount val="1"/>
                <c:pt idx="0">
                  <c:v>Total_Wickets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Table1!$A$2:$A$15</c:f>
              <c:strCache>
                <c:ptCount val="14"/>
                <c:pt idx="0">
                  <c:v>CH Gayle</c:v>
                </c:pt>
                <c:pt idx="1">
                  <c:v>SR Watson</c:v>
                </c:pt>
                <c:pt idx="2">
                  <c:v>DR Smith</c:v>
                </c:pt>
                <c:pt idx="3">
                  <c:v>SK Raina</c:v>
                </c:pt>
                <c:pt idx="4">
                  <c:v>AJ Finch</c:v>
                </c:pt>
                <c:pt idx="5">
                  <c:v>RG Sharma</c:v>
                </c:pt>
                <c:pt idx="6">
                  <c:v>KA Pollard</c:v>
                </c:pt>
                <c:pt idx="7">
                  <c:v>JH Kallis</c:v>
                </c:pt>
                <c:pt idx="8">
                  <c:v>STR Binny</c:v>
                </c:pt>
                <c:pt idx="9">
                  <c:v>Yuvraj Singh</c:v>
                </c:pt>
                <c:pt idx="10">
                  <c:v>YK Pathan</c:v>
                </c:pt>
                <c:pt idx="11">
                  <c:v>GJ Maxwell</c:v>
                </c:pt>
                <c:pt idx="12">
                  <c:v>AC Gilchrist</c:v>
                </c:pt>
                <c:pt idx="13">
                  <c:v>RA Jadeja</c:v>
                </c:pt>
              </c:strCache>
            </c:strRef>
          </c:xVal>
          <c:yVal>
            <c:numRef>
              <c:f>Table1!$C$2:$C$15</c:f>
              <c:numCache>
                <c:formatCode>General</c:formatCode>
                <c:ptCount val="14"/>
                <c:pt idx="0">
                  <c:v>5</c:v>
                </c:pt>
                <c:pt idx="1">
                  <c:v>28</c:v>
                </c:pt>
                <c:pt idx="2">
                  <c:v>8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  <c:pt idx="6">
                  <c:v>26</c:v>
                </c:pt>
                <c:pt idx="7">
                  <c:v>45</c:v>
                </c:pt>
                <c:pt idx="8">
                  <c:v>17</c:v>
                </c:pt>
                <c:pt idx="9">
                  <c:v>10</c:v>
                </c:pt>
                <c:pt idx="10">
                  <c:v>2</c:v>
                </c:pt>
                <c:pt idx="11">
                  <c:v>3</c:v>
                </c:pt>
                <c:pt idx="12">
                  <c:v>2</c:v>
                </c:pt>
                <c:pt idx="13">
                  <c:v>38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9E8-48F2-8004-07AD634D96D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534587599"/>
        <c:axId val="1534599599"/>
      </c:scatterChart>
      <c:valAx>
        <c:axId val="153458759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4599599"/>
        <c:crosses val="autoZero"/>
        <c:crossBetween val="midCat"/>
      </c:valAx>
      <c:valAx>
        <c:axId val="15345995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458759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Player_Name</a:t>
            </a:r>
            <a:r>
              <a:rPr lang="en-IN" baseline="0"/>
              <a:t> v/s </a:t>
            </a: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Total_Runs and Total_Wickets</a:t>
            </a:r>
            <a:r>
              <a:rPr lang="en-IN" baseline="0"/>
              <a:t> 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Total_Runs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Table1!$A$2:$A$15</c:f>
              <c:strCache>
                <c:ptCount val="14"/>
                <c:pt idx="0">
                  <c:v>CH Gayle</c:v>
                </c:pt>
                <c:pt idx="1">
                  <c:v>SR Watson</c:v>
                </c:pt>
                <c:pt idx="2">
                  <c:v>DR Smith</c:v>
                </c:pt>
                <c:pt idx="3">
                  <c:v>SK Raina</c:v>
                </c:pt>
                <c:pt idx="4">
                  <c:v>AJ Finch</c:v>
                </c:pt>
                <c:pt idx="5">
                  <c:v>RG Sharma</c:v>
                </c:pt>
                <c:pt idx="6">
                  <c:v>KA Pollard</c:v>
                </c:pt>
                <c:pt idx="7">
                  <c:v>JH Kallis</c:v>
                </c:pt>
                <c:pt idx="8">
                  <c:v>STR Binny</c:v>
                </c:pt>
                <c:pt idx="9">
                  <c:v>Yuvraj Singh</c:v>
                </c:pt>
                <c:pt idx="10">
                  <c:v>YK Pathan</c:v>
                </c:pt>
                <c:pt idx="11">
                  <c:v>GJ Maxwell</c:v>
                </c:pt>
                <c:pt idx="12">
                  <c:v>AC Gilchrist</c:v>
                </c:pt>
                <c:pt idx="13">
                  <c:v>RA Jadeja</c:v>
                </c:pt>
              </c:strCache>
            </c:strRef>
          </c:cat>
          <c:val>
            <c:numRef>
              <c:f>Table1!$B$2:$B$15</c:f>
              <c:numCache>
                <c:formatCode>General</c:formatCode>
                <c:ptCount val="14"/>
                <c:pt idx="0">
                  <c:v>740</c:v>
                </c:pt>
                <c:pt idx="1">
                  <c:v>666</c:v>
                </c:pt>
                <c:pt idx="2">
                  <c:v>658</c:v>
                </c:pt>
                <c:pt idx="3">
                  <c:v>647</c:v>
                </c:pt>
                <c:pt idx="4">
                  <c:v>625</c:v>
                </c:pt>
                <c:pt idx="5">
                  <c:v>622</c:v>
                </c:pt>
                <c:pt idx="6">
                  <c:v>552</c:v>
                </c:pt>
                <c:pt idx="7">
                  <c:v>448</c:v>
                </c:pt>
                <c:pt idx="8">
                  <c:v>361</c:v>
                </c:pt>
                <c:pt idx="9">
                  <c:v>359</c:v>
                </c:pt>
                <c:pt idx="10">
                  <c:v>350</c:v>
                </c:pt>
                <c:pt idx="11">
                  <c:v>336</c:v>
                </c:pt>
                <c:pt idx="12">
                  <c:v>294</c:v>
                </c:pt>
                <c:pt idx="13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E7-4762-9C7D-781805259E75}"/>
            </c:ext>
          </c:extLst>
        </c:ser>
        <c:ser>
          <c:idx val="1"/>
          <c:order val="1"/>
          <c:tx>
            <c:strRef>
              <c:f>Table1!$C$1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Table1!$A$2:$A$15</c:f>
              <c:strCache>
                <c:ptCount val="14"/>
                <c:pt idx="0">
                  <c:v>CH Gayle</c:v>
                </c:pt>
                <c:pt idx="1">
                  <c:v>SR Watson</c:v>
                </c:pt>
                <c:pt idx="2">
                  <c:v>DR Smith</c:v>
                </c:pt>
                <c:pt idx="3">
                  <c:v>SK Raina</c:v>
                </c:pt>
                <c:pt idx="4">
                  <c:v>AJ Finch</c:v>
                </c:pt>
                <c:pt idx="5">
                  <c:v>RG Sharma</c:v>
                </c:pt>
                <c:pt idx="6">
                  <c:v>KA Pollard</c:v>
                </c:pt>
                <c:pt idx="7">
                  <c:v>JH Kallis</c:v>
                </c:pt>
                <c:pt idx="8">
                  <c:v>STR Binny</c:v>
                </c:pt>
                <c:pt idx="9">
                  <c:v>Yuvraj Singh</c:v>
                </c:pt>
                <c:pt idx="10">
                  <c:v>YK Pathan</c:v>
                </c:pt>
                <c:pt idx="11">
                  <c:v>GJ Maxwell</c:v>
                </c:pt>
                <c:pt idx="12">
                  <c:v>AC Gilchrist</c:v>
                </c:pt>
                <c:pt idx="13">
                  <c:v>RA Jadeja</c:v>
                </c:pt>
              </c:strCache>
            </c:strRef>
          </c:cat>
          <c:val>
            <c:numRef>
              <c:f>Table1!$C$2:$C$15</c:f>
              <c:numCache>
                <c:formatCode>General</c:formatCode>
                <c:ptCount val="14"/>
                <c:pt idx="0">
                  <c:v>5</c:v>
                </c:pt>
                <c:pt idx="1">
                  <c:v>28</c:v>
                </c:pt>
                <c:pt idx="2">
                  <c:v>8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  <c:pt idx="6">
                  <c:v>26</c:v>
                </c:pt>
                <c:pt idx="7">
                  <c:v>45</c:v>
                </c:pt>
                <c:pt idx="8">
                  <c:v>17</c:v>
                </c:pt>
                <c:pt idx="9">
                  <c:v>10</c:v>
                </c:pt>
                <c:pt idx="10">
                  <c:v>2</c:v>
                </c:pt>
                <c:pt idx="11">
                  <c:v>3</c:v>
                </c:pt>
                <c:pt idx="12">
                  <c:v>2</c:v>
                </c:pt>
                <c:pt idx="1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E7-4762-9C7D-781805259E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43139151"/>
        <c:axId val="1643140111"/>
      </c:barChart>
      <c:catAx>
        <c:axId val="16431391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Total_Runs and Total_Wickets</a:t>
                </a:r>
              </a:p>
            </c:rich>
          </c:tx>
          <c:layout>
            <c:manualLayout>
              <c:xMode val="edge"/>
              <c:yMode val="edge"/>
              <c:x val="0.36557655293088365"/>
              <c:y val="0.809424030329542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140111"/>
        <c:crosses val="autoZero"/>
        <c:auto val="1"/>
        <c:lblAlgn val="ctr"/>
        <c:lblOffset val="100"/>
        <c:noMultiLvlLbl val="0"/>
      </c:catAx>
      <c:valAx>
        <c:axId val="164314011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Player_Name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220705016039661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139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Total_Runs v/s </a:t>
            </a: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Batting_Team and Season_Year</a:t>
            </a:r>
          </a:p>
        </c:rich>
      </c:tx>
      <c:layout>
        <c:manualLayout>
          <c:xMode val="edge"/>
          <c:yMode val="edge"/>
          <c:x val="0.13904855643044617"/>
          <c:y val="1.38888888888888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Table1!$E$1</c:f>
              <c:strCache>
                <c:ptCount val="1"/>
                <c:pt idx="0">
                  <c:v>Total_Runs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Table1!$C$2:$D$15</c:f>
              <c:multiLvlStrCache>
                <c:ptCount val="14"/>
                <c:lvl>
                  <c:pt idx="0">
                    <c:v>Royal Challengers Bangalore</c:v>
                  </c:pt>
                  <c:pt idx="1">
                    <c:v>Chennai Super Kings</c:v>
                  </c:pt>
                  <c:pt idx="2">
                    <c:v>Mumbai Indians</c:v>
                  </c:pt>
                  <c:pt idx="3">
                    <c:v>Kings XI Punjab</c:v>
                  </c:pt>
                  <c:pt idx="4">
                    <c:v>Chennai Super Kings</c:v>
                  </c:pt>
                  <c:pt idx="5">
                    <c:v>Chennai Super Kings</c:v>
                  </c:pt>
                  <c:pt idx="6">
                    <c:v>Mumbai Indians</c:v>
                  </c:pt>
                  <c:pt idx="7">
                    <c:v>Kings XI Punjab</c:v>
                  </c:pt>
                  <c:pt idx="8">
                    <c:v>Kings XI Punjab</c:v>
                  </c:pt>
                  <c:pt idx="9">
                    <c:v>Kings XI Punjab</c:v>
                  </c:pt>
                  <c:pt idx="10">
                    <c:v>Chennai Super Kings</c:v>
                  </c:pt>
                  <c:pt idx="11">
                    <c:v>Rajasthan Royals</c:v>
                  </c:pt>
                  <c:pt idx="12">
                    <c:v>Royal Challengers Bangalore</c:v>
                  </c:pt>
                  <c:pt idx="13">
                    <c:v>Royal Challengers Bangalore</c:v>
                  </c:pt>
                </c:lvl>
                <c:lvl>
                  <c:pt idx="0">
                    <c:v>2013</c:v>
                  </c:pt>
                  <c:pt idx="1">
                    <c:v>2013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2014</c:v>
                  </c:pt>
                  <c:pt idx="5">
                    <c:v>2013</c:v>
                  </c:pt>
                  <c:pt idx="6">
                    <c:v>2013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2014</c:v>
                  </c:pt>
                  <c:pt idx="10">
                    <c:v>2013</c:v>
                  </c:pt>
                  <c:pt idx="11">
                    <c:v>2014</c:v>
                  </c:pt>
                  <c:pt idx="12">
                    <c:v>2013</c:v>
                  </c:pt>
                  <c:pt idx="13">
                    <c:v>2013</c:v>
                  </c:pt>
                </c:lvl>
              </c:multiLvlStrCache>
            </c:multiLvlStrRef>
          </c:cat>
          <c:val>
            <c:numRef>
              <c:f>Table1!$E$2:$E$15</c:f>
              <c:numCache>
                <c:formatCode>General</c:formatCode>
                <c:ptCount val="14"/>
                <c:pt idx="0">
                  <c:v>263</c:v>
                </c:pt>
                <c:pt idx="1">
                  <c:v>223</c:v>
                </c:pt>
                <c:pt idx="2">
                  <c:v>209</c:v>
                </c:pt>
                <c:pt idx="3">
                  <c:v>206</c:v>
                </c:pt>
                <c:pt idx="4">
                  <c:v>205</c:v>
                </c:pt>
                <c:pt idx="5">
                  <c:v>200</c:v>
                </c:pt>
                <c:pt idx="6">
                  <c:v>194</c:v>
                </c:pt>
                <c:pt idx="7">
                  <c:v>194</c:v>
                </c:pt>
                <c:pt idx="8">
                  <c:v>193</c:v>
                </c:pt>
                <c:pt idx="9">
                  <c:v>193</c:v>
                </c:pt>
                <c:pt idx="10">
                  <c:v>192</c:v>
                </c:pt>
                <c:pt idx="11">
                  <c:v>191</c:v>
                </c:pt>
                <c:pt idx="12">
                  <c:v>190</c:v>
                </c:pt>
                <c:pt idx="13">
                  <c:v>187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14-4B40-9C10-B01F4B1C058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63920639"/>
        <c:axId val="1563921119"/>
      </c:lineChart>
      <c:catAx>
        <c:axId val="15639206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Batting_Team and Season_Year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3921119"/>
        <c:crosses val="autoZero"/>
        <c:auto val="1"/>
        <c:lblAlgn val="ctr"/>
        <c:lblOffset val="100"/>
        <c:noMultiLvlLbl val="0"/>
      </c:catAx>
      <c:valAx>
        <c:axId val="15639211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Total_Runs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3920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Player_Name v/s </a:t>
            </a: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Total_Runs and Total_Wickets</a:t>
            </a:r>
            <a:r>
              <a:rPr lang="en-IN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Total_Runs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Table1!$A$2:$A$15</c:f>
              <c:strCache>
                <c:ptCount val="14"/>
                <c:pt idx="0">
                  <c:v>MEK Hussey</c:v>
                </c:pt>
                <c:pt idx="1">
                  <c:v>V Kohli</c:v>
                </c:pt>
                <c:pt idx="2">
                  <c:v>CH Gayle</c:v>
                </c:pt>
                <c:pt idx="3">
                  <c:v>AM Rahane</c:v>
                </c:pt>
                <c:pt idx="4">
                  <c:v>SR Watson</c:v>
                </c:pt>
                <c:pt idx="5">
                  <c:v>DR Smith</c:v>
                </c:pt>
                <c:pt idx="6">
                  <c:v>SK Raina</c:v>
                </c:pt>
                <c:pt idx="7">
                  <c:v>AJ Finch</c:v>
                </c:pt>
                <c:pt idx="8">
                  <c:v>RG Sharma</c:v>
                </c:pt>
                <c:pt idx="9">
                  <c:v>KD Karthik</c:v>
                </c:pt>
                <c:pt idx="10">
                  <c:v>DA Warner</c:v>
                </c:pt>
                <c:pt idx="11">
                  <c:v>DA Miller</c:v>
                </c:pt>
                <c:pt idx="12">
                  <c:v>KA Pollard</c:v>
                </c:pt>
                <c:pt idx="13">
                  <c:v>MS Dhoni</c:v>
                </c:pt>
              </c:strCache>
            </c:strRef>
          </c:cat>
          <c:val>
            <c:numRef>
              <c:f>Table1!$B$2:$B$15</c:f>
              <c:numCache>
                <c:formatCode>General</c:formatCode>
                <c:ptCount val="14"/>
                <c:pt idx="0">
                  <c:v>763</c:v>
                </c:pt>
                <c:pt idx="1">
                  <c:v>744</c:v>
                </c:pt>
                <c:pt idx="2">
                  <c:v>740</c:v>
                </c:pt>
                <c:pt idx="3">
                  <c:v>670</c:v>
                </c:pt>
                <c:pt idx="4">
                  <c:v>666</c:v>
                </c:pt>
                <c:pt idx="5">
                  <c:v>658</c:v>
                </c:pt>
                <c:pt idx="6">
                  <c:v>647</c:v>
                </c:pt>
                <c:pt idx="7">
                  <c:v>625</c:v>
                </c:pt>
                <c:pt idx="8">
                  <c:v>622</c:v>
                </c:pt>
                <c:pt idx="9">
                  <c:v>604</c:v>
                </c:pt>
                <c:pt idx="10">
                  <c:v>573</c:v>
                </c:pt>
                <c:pt idx="11">
                  <c:v>573</c:v>
                </c:pt>
                <c:pt idx="12">
                  <c:v>552</c:v>
                </c:pt>
                <c:pt idx="13">
                  <c:v>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AB-4D21-87BA-F69B12784DE5}"/>
            </c:ext>
          </c:extLst>
        </c:ser>
        <c:ser>
          <c:idx val="1"/>
          <c:order val="1"/>
          <c:tx>
            <c:strRef>
              <c:f>Table1!$C$1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Table1!$A$2:$A$15</c:f>
              <c:strCache>
                <c:ptCount val="14"/>
                <c:pt idx="0">
                  <c:v>MEK Hussey</c:v>
                </c:pt>
                <c:pt idx="1">
                  <c:v>V Kohli</c:v>
                </c:pt>
                <c:pt idx="2">
                  <c:v>CH Gayle</c:v>
                </c:pt>
                <c:pt idx="3">
                  <c:v>AM Rahane</c:v>
                </c:pt>
                <c:pt idx="4">
                  <c:v>SR Watson</c:v>
                </c:pt>
                <c:pt idx="5">
                  <c:v>DR Smith</c:v>
                </c:pt>
                <c:pt idx="6">
                  <c:v>SK Raina</c:v>
                </c:pt>
                <c:pt idx="7">
                  <c:v>AJ Finch</c:v>
                </c:pt>
                <c:pt idx="8">
                  <c:v>RG Sharma</c:v>
                </c:pt>
                <c:pt idx="9">
                  <c:v>KD Karthik</c:v>
                </c:pt>
                <c:pt idx="10">
                  <c:v>DA Warner</c:v>
                </c:pt>
                <c:pt idx="11">
                  <c:v>DA Miller</c:v>
                </c:pt>
                <c:pt idx="12">
                  <c:v>KA Pollard</c:v>
                </c:pt>
                <c:pt idx="13">
                  <c:v>MS Dhoni</c:v>
                </c:pt>
              </c:strCache>
            </c:strRef>
          </c:cat>
          <c:val>
            <c:numRef>
              <c:f>Table1!$C$2:$C$15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0</c:v>
                </c:pt>
                <c:pt idx="4">
                  <c:v>28</c:v>
                </c:pt>
                <c:pt idx="5">
                  <c:v>8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26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AB-4D21-87BA-F69B12784D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43007615"/>
        <c:axId val="1443008575"/>
      </c:barChart>
      <c:catAx>
        <c:axId val="14430076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Player_Name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289448089822105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3008575"/>
        <c:crosses val="autoZero"/>
        <c:auto val="1"/>
        <c:lblAlgn val="ctr"/>
        <c:lblOffset val="100"/>
        <c:noMultiLvlLbl val="0"/>
      </c:catAx>
      <c:valAx>
        <c:axId val="14430085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Total_Runs and Total_Wickets</a:t>
                </a:r>
              </a:p>
            </c:rich>
          </c:tx>
          <c:layout>
            <c:manualLayout>
              <c:xMode val="edge"/>
              <c:yMode val="edge"/>
              <c:x val="0.38273534558180222"/>
              <c:y val="0.80055482648002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3007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[ypz11xml5.xmRAM.xml]Table1!PivotTable27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Season_Year and Player_Name v/s Sum of total runs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IN"/>
          </a:p>
        </c:rich>
      </c:tx>
      <c:layout>
        <c:manualLayout>
          <c:xMode val="edge"/>
          <c:yMode val="edge"/>
          <c:x val="0.22829408273889895"/>
          <c:y val="3.17402185191967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Table1!$F$7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Table1!$E$8:$E$52</c:f>
              <c:multiLvlStrCache>
                <c:ptCount val="40"/>
                <c:lvl>
                  <c:pt idx="0">
                    <c:v>AM Rahane</c:v>
                  </c:pt>
                  <c:pt idx="1">
                    <c:v>CH Gayle</c:v>
                  </c:pt>
                  <c:pt idx="2">
                    <c:v>KD Karthik</c:v>
                  </c:pt>
                  <c:pt idx="3">
                    <c:v>MEK Hussey</c:v>
                  </c:pt>
                  <c:pt idx="4">
                    <c:v>MS Dhoni</c:v>
                  </c:pt>
                  <c:pt idx="5">
                    <c:v>R Dravid</c:v>
                  </c:pt>
                  <c:pt idx="6">
                    <c:v>RG Sharma</c:v>
                  </c:pt>
                  <c:pt idx="7">
                    <c:v>SK Raina</c:v>
                  </c:pt>
                  <c:pt idx="8">
                    <c:v>SR Watson</c:v>
                  </c:pt>
                  <c:pt idx="9">
                    <c:v>V Kohli</c:v>
                  </c:pt>
                  <c:pt idx="10">
                    <c:v>BB McCullum</c:v>
                  </c:pt>
                  <c:pt idx="11">
                    <c:v>DA Miller</c:v>
                  </c:pt>
                  <c:pt idx="12">
                    <c:v>DA Warner</c:v>
                  </c:pt>
                  <c:pt idx="13">
                    <c:v>DR Smith</c:v>
                  </c:pt>
                  <c:pt idx="14">
                    <c:v>GJ Maxwell</c:v>
                  </c:pt>
                  <c:pt idx="15">
                    <c:v>JP Duminy</c:v>
                  </c:pt>
                  <c:pt idx="16">
                    <c:v>MK Pandey</c:v>
                  </c:pt>
                  <c:pt idx="17">
                    <c:v>RV Uthappa</c:v>
                  </c:pt>
                  <c:pt idx="18">
                    <c:v>SK Raina</c:v>
                  </c:pt>
                  <c:pt idx="19">
                    <c:v>V Sehwag</c:v>
                  </c:pt>
                  <c:pt idx="20">
                    <c:v>AB de Villiers</c:v>
                  </c:pt>
                  <c:pt idx="21">
                    <c:v>AM Rahane</c:v>
                  </c:pt>
                  <c:pt idx="22">
                    <c:v>BB McCullum</c:v>
                  </c:pt>
                  <c:pt idx="23">
                    <c:v>CH Gayle</c:v>
                  </c:pt>
                  <c:pt idx="24">
                    <c:v>DA Warner</c:v>
                  </c:pt>
                  <c:pt idx="25">
                    <c:v>KA Pollard</c:v>
                  </c:pt>
                  <c:pt idx="26">
                    <c:v>LMP Simmons</c:v>
                  </c:pt>
                  <c:pt idx="27">
                    <c:v>RG Sharma</c:v>
                  </c:pt>
                  <c:pt idx="28">
                    <c:v>SS Iyer</c:v>
                  </c:pt>
                  <c:pt idx="29">
                    <c:v>V Kohli</c:v>
                  </c:pt>
                  <c:pt idx="30">
                    <c:v>AB de Villiers</c:v>
                  </c:pt>
                  <c:pt idx="31">
                    <c:v>AM Rahane</c:v>
                  </c:pt>
                  <c:pt idx="32">
                    <c:v>DA Warner</c:v>
                  </c:pt>
                  <c:pt idx="33">
                    <c:v>G Gambhir</c:v>
                  </c:pt>
                  <c:pt idx="34">
                    <c:v>M Vijay</c:v>
                  </c:pt>
                  <c:pt idx="35">
                    <c:v>Q de Kock</c:v>
                  </c:pt>
                  <c:pt idx="36">
                    <c:v>RG Sharma</c:v>
                  </c:pt>
                  <c:pt idx="37">
                    <c:v>S Dhawan</c:v>
                  </c:pt>
                  <c:pt idx="38">
                    <c:v>SK Raina</c:v>
                  </c:pt>
                  <c:pt idx="39">
                    <c:v>V Kohli</c:v>
                  </c:pt>
                </c:lvl>
                <c:lvl>
                  <c:pt idx="0">
                    <c:v>2013</c:v>
                  </c:pt>
                  <c:pt idx="10">
                    <c:v>2014</c:v>
                  </c:pt>
                  <c:pt idx="20">
                    <c:v>2015</c:v>
                  </c:pt>
                  <c:pt idx="30">
                    <c:v>2016</c:v>
                  </c:pt>
                </c:lvl>
              </c:multiLvlStrCache>
            </c:multiLvlStrRef>
          </c:cat>
          <c:val>
            <c:numRef>
              <c:f>Table1!$F$8:$F$52</c:f>
              <c:numCache>
                <c:formatCode>General</c:formatCode>
                <c:ptCount val="40"/>
                <c:pt idx="0">
                  <c:v>488</c:v>
                </c:pt>
                <c:pt idx="1">
                  <c:v>720</c:v>
                </c:pt>
                <c:pt idx="2">
                  <c:v>510</c:v>
                </c:pt>
                <c:pt idx="3">
                  <c:v>733</c:v>
                </c:pt>
                <c:pt idx="4">
                  <c:v>461</c:v>
                </c:pt>
                <c:pt idx="5">
                  <c:v>471</c:v>
                </c:pt>
                <c:pt idx="6">
                  <c:v>538</c:v>
                </c:pt>
                <c:pt idx="7">
                  <c:v>548</c:v>
                </c:pt>
                <c:pt idx="8">
                  <c:v>543</c:v>
                </c:pt>
                <c:pt idx="9">
                  <c:v>639</c:v>
                </c:pt>
                <c:pt idx="10">
                  <c:v>405</c:v>
                </c:pt>
                <c:pt idx="11">
                  <c:v>446</c:v>
                </c:pt>
                <c:pt idx="12">
                  <c:v>528</c:v>
                </c:pt>
                <c:pt idx="13">
                  <c:v>566</c:v>
                </c:pt>
                <c:pt idx="14">
                  <c:v>552</c:v>
                </c:pt>
                <c:pt idx="15">
                  <c:v>410</c:v>
                </c:pt>
                <c:pt idx="16">
                  <c:v>409</c:v>
                </c:pt>
                <c:pt idx="17">
                  <c:v>660</c:v>
                </c:pt>
                <c:pt idx="18">
                  <c:v>523</c:v>
                </c:pt>
                <c:pt idx="19">
                  <c:v>455</c:v>
                </c:pt>
                <c:pt idx="20">
                  <c:v>513</c:v>
                </c:pt>
                <c:pt idx="21">
                  <c:v>540</c:v>
                </c:pt>
                <c:pt idx="22">
                  <c:v>436</c:v>
                </c:pt>
                <c:pt idx="23">
                  <c:v>491</c:v>
                </c:pt>
                <c:pt idx="24">
                  <c:v>562</c:v>
                </c:pt>
                <c:pt idx="25">
                  <c:v>419</c:v>
                </c:pt>
                <c:pt idx="26">
                  <c:v>540</c:v>
                </c:pt>
                <c:pt idx="27">
                  <c:v>482</c:v>
                </c:pt>
                <c:pt idx="28">
                  <c:v>439</c:v>
                </c:pt>
                <c:pt idx="29">
                  <c:v>505</c:v>
                </c:pt>
                <c:pt idx="30">
                  <c:v>687</c:v>
                </c:pt>
                <c:pt idx="31">
                  <c:v>480</c:v>
                </c:pt>
                <c:pt idx="32">
                  <c:v>848</c:v>
                </c:pt>
                <c:pt idx="33">
                  <c:v>501</c:v>
                </c:pt>
                <c:pt idx="34">
                  <c:v>453</c:v>
                </c:pt>
                <c:pt idx="35">
                  <c:v>445</c:v>
                </c:pt>
                <c:pt idx="36">
                  <c:v>489</c:v>
                </c:pt>
                <c:pt idx="37">
                  <c:v>501</c:v>
                </c:pt>
                <c:pt idx="38">
                  <c:v>399</c:v>
                </c:pt>
                <c:pt idx="39">
                  <c:v>969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59-436A-B57A-C4DB643272D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82946639"/>
        <c:axId val="2082938479"/>
      </c:lineChart>
      <c:catAx>
        <c:axId val="20829466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Season_Year</a:t>
                </a:r>
                <a:r>
                  <a:rPr lang="en-IN" baseline="0"/>
                  <a:t> and Player_Name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0.38897836935785157"/>
              <c:y val="0.840944239375218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2938479"/>
        <c:crosses val="autoZero"/>
        <c:auto val="1"/>
        <c:lblAlgn val="ctr"/>
        <c:lblOffset val="100"/>
        <c:noMultiLvlLbl val="0"/>
      </c:catAx>
      <c:valAx>
        <c:axId val="20829384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Sum</a:t>
                </a:r>
                <a:r>
                  <a:rPr lang="en-IN" baseline="0"/>
                  <a:t> of total runs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1.2645422357106728E-2"/>
              <c:y val="0.232025816234415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2946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Team_Id v/s Total_Runs</a:t>
            </a:r>
          </a:p>
        </c:rich>
      </c:tx>
      <c:layout>
        <c:manualLayout>
          <c:xMode val="edge"/>
          <c:yMode val="edge"/>
          <c:x val="0.3113748906386701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'[ram0@@@@####.xml]Table1'!$B$1</c:f>
              <c:strCache>
                <c:ptCount val="1"/>
                <c:pt idx="0">
                  <c:v>Team_Id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'[ram0@@@@####.xml]Table1'!$B$2:$B$18</c:f>
              <c:numCache>
                <c:formatCode>General</c:formatCode>
                <c:ptCount val="17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  <c:pt idx="10">
                  <c:v>6</c:v>
                </c:pt>
                <c:pt idx="11">
                  <c:v>6</c:v>
                </c:pt>
                <c:pt idx="12">
                  <c:v>7</c:v>
                </c:pt>
                <c:pt idx="13">
                  <c:v>7</c:v>
                </c:pt>
                <c:pt idx="14">
                  <c:v>10</c:v>
                </c:pt>
                <c:pt idx="15">
                  <c:v>11</c:v>
                </c:pt>
                <c:pt idx="1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39-4891-8053-3A1556B92311}"/>
            </c:ext>
          </c:extLst>
        </c:ser>
        <c:ser>
          <c:idx val="1"/>
          <c:order val="1"/>
          <c:tx>
            <c:strRef>
              <c:f>'[ram0@@@@####.xml]Table1'!$C$1</c:f>
              <c:strCache>
                <c:ptCount val="1"/>
                <c:pt idx="0">
                  <c:v>Total_Runs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'[ram0@@@@####.xml]Table1'!$C$2:$C$18</c:f>
              <c:numCache>
                <c:formatCode>General</c:formatCode>
                <c:ptCount val="17"/>
                <c:pt idx="0">
                  <c:v>2325</c:v>
                </c:pt>
                <c:pt idx="1">
                  <c:v>753</c:v>
                </c:pt>
                <c:pt idx="2">
                  <c:v>2673</c:v>
                </c:pt>
                <c:pt idx="3">
                  <c:v>634</c:v>
                </c:pt>
                <c:pt idx="4">
                  <c:v>2841</c:v>
                </c:pt>
                <c:pt idx="5">
                  <c:v>807</c:v>
                </c:pt>
                <c:pt idx="6">
                  <c:v>2509</c:v>
                </c:pt>
                <c:pt idx="7">
                  <c:v>877</c:v>
                </c:pt>
                <c:pt idx="8">
                  <c:v>2816</c:v>
                </c:pt>
                <c:pt idx="9">
                  <c:v>727</c:v>
                </c:pt>
                <c:pt idx="10">
                  <c:v>2303</c:v>
                </c:pt>
                <c:pt idx="11">
                  <c:v>711</c:v>
                </c:pt>
                <c:pt idx="12">
                  <c:v>3072</c:v>
                </c:pt>
                <c:pt idx="13">
                  <c:v>680</c:v>
                </c:pt>
                <c:pt idx="14">
                  <c:v>2342</c:v>
                </c:pt>
                <c:pt idx="15">
                  <c:v>2376</c:v>
                </c:pt>
                <c:pt idx="16">
                  <c:v>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39-4891-8053-3A1556B92311}"/>
            </c:ext>
          </c:extLst>
        </c:ser>
        <c:ser>
          <c:idx val="2"/>
          <c:order val="2"/>
          <c:tx>
            <c:strRef>
              <c:f>'[ram0@@@@####.xml]Table1'!$D$1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'[ram0@@@@####.xml]Table1'!$D$2:$D$18</c:f>
              <c:numCache>
                <c:formatCode>General</c:formatCode>
                <c:ptCount val="17"/>
                <c:pt idx="0">
                  <c:v>190</c:v>
                </c:pt>
                <c:pt idx="1">
                  <c:v>70</c:v>
                </c:pt>
                <c:pt idx="2">
                  <c:v>176</c:v>
                </c:pt>
                <c:pt idx="3">
                  <c:v>54</c:v>
                </c:pt>
                <c:pt idx="4">
                  <c:v>208</c:v>
                </c:pt>
                <c:pt idx="5">
                  <c:v>60</c:v>
                </c:pt>
                <c:pt idx="6">
                  <c:v>175</c:v>
                </c:pt>
                <c:pt idx="7">
                  <c:v>62</c:v>
                </c:pt>
                <c:pt idx="8">
                  <c:v>199</c:v>
                </c:pt>
                <c:pt idx="9">
                  <c:v>62</c:v>
                </c:pt>
                <c:pt idx="10">
                  <c:v>185</c:v>
                </c:pt>
                <c:pt idx="11">
                  <c:v>43</c:v>
                </c:pt>
                <c:pt idx="12">
                  <c:v>230</c:v>
                </c:pt>
                <c:pt idx="13">
                  <c:v>55</c:v>
                </c:pt>
                <c:pt idx="14">
                  <c:v>191</c:v>
                </c:pt>
                <c:pt idx="15">
                  <c:v>211</c:v>
                </c:pt>
                <c:pt idx="16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39-4891-8053-3A1556B9231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49914143"/>
        <c:axId val="1449914623"/>
      </c:barChart>
      <c:catAx>
        <c:axId val="1449914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Team_Id</a:t>
                </a:r>
              </a:p>
            </c:rich>
          </c:tx>
          <c:layout>
            <c:manualLayout>
              <c:xMode val="edge"/>
              <c:yMode val="edge"/>
              <c:x val="0.50776968503937003"/>
              <c:y val="0.80055482648002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914623"/>
        <c:crosses val="autoZero"/>
        <c:auto val="1"/>
        <c:lblAlgn val="ctr"/>
        <c:lblOffset val="100"/>
        <c:noMultiLvlLbl val="0"/>
      </c:catAx>
      <c:valAx>
        <c:axId val="14499146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Total_Runs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314586978710994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914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aeb1a6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aeb1a6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6e9c9129a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6e9c9129a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850374cb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850374cb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850374c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c850374c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aeb1a648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aeb1a648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f0818e43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f0818e43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aeb1a648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aeb1a648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aeb1a648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aeb1a648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f0818e43e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ff0818e43e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c850374cb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c850374cb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e9c9129a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e9c9129a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c850374cb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c850374cb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6e9c9129a8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6e9c9129a8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850374cb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850374cb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aeb1a648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daeb1a648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e9c9129a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e9c9129a8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e9c9129a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6e9c9129a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e9c9129a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e9c9129a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b33fd6ed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b33fd6ed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e9c9129a8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e9c9129a8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9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0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gif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0"/>
            <a:ext cx="8520600" cy="10427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IPL Analysis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CE5BD-CAA4-CB67-EEEC-8C8F68579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4984"/>
            <a:ext cx="3709639" cy="34485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6580F5-7922-2C70-43A4-1D04055F1C1F}"/>
              </a:ext>
            </a:extLst>
          </p:cNvPr>
          <p:cNvSpPr txBox="1"/>
          <p:nvPr/>
        </p:nvSpPr>
        <p:spPr>
          <a:xfrm>
            <a:off x="5719665" y="3450729"/>
            <a:ext cx="314701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Prepared by :- Sumit Singh</a:t>
            </a:r>
          </a:p>
          <a:p>
            <a:r>
              <a:rPr lang="en-IN" sz="1800" b="1" dirty="0"/>
              <a:t>Technology :- SQL</a:t>
            </a:r>
          </a:p>
          <a:p>
            <a:r>
              <a:rPr lang="en-IN" sz="1800" b="1" dirty="0"/>
              <a:t>Dataset :- IPL (2008-2016)</a:t>
            </a:r>
          </a:p>
          <a:p>
            <a:endParaRPr lang="en-IN" sz="1800" b="1" dirty="0"/>
          </a:p>
          <a:p>
            <a:r>
              <a:rPr lang="en-IN" dirty="0"/>
              <a:t>Analyse Team Performance, </a:t>
            </a:r>
          </a:p>
          <a:p>
            <a:r>
              <a:rPr lang="en-IN" dirty="0"/>
              <a:t>Player Statistics and Match Insights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0AE58D-14A8-63B9-A100-9F177AD5D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98D395-8EF7-AA8D-EC61-FB55A2F5D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486275" y="1384950"/>
            <a:ext cx="4920600" cy="241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7429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endParaRPr lang="en-IN"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Description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7429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Objective Key Metrics and Visualizations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7429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Subjective Question for Insights</a:t>
            </a:r>
            <a:endParaRPr sz="18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486275" y="580749"/>
            <a:ext cx="41454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sz="24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4820" y="676508"/>
            <a:ext cx="3233853" cy="32858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EC2862-CD53-91A5-2ADF-725AA797B894}"/>
              </a:ext>
            </a:extLst>
          </p:cNvPr>
          <p:cNvSpPr txBox="1"/>
          <p:nvPr/>
        </p:nvSpPr>
        <p:spPr>
          <a:xfrm>
            <a:off x="382197" y="4372650"/>
            <a:ext cx="52826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SQL Project:- 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IPL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Analysis</a:t>
            </a:r>
            <a:endParaRPr lang="en-US" sz="28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E21C40-A813-2E72-4585-7F49CC144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068A08-0884-CCDB-19D6-46E994DA1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2D26A4-4F72-F803-7B31-5C4141D9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710" y="712919"/>
            <a:ext cx="8520600" cy="572700"/>
          </a:xfrm>
        </p:spPr>
        <p:txBody>
          <a:bodyPr>
            <a:normAutofit/>
          </a:bodyPr>
          <a:lstStyle/>
          <a:p>
            <a:r>
              <a:rPr lang="en-IN" sz="2400" b="1" dirty="0"/>
              <a:t>Dataset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4859A7-3949-DAB0-D31D-1039B4172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76221"/>
            <a:ext cx="8520600" cy="34164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IPL dataset covers 9 seasons (2008–2016).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Contains 18 relational tables with match, player, team, venue, and season information.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Includes ball-by-ball data, runs, wickets, extra runs, batting and bowling statistics.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SQL was used to analyze team performance, player performance, venue insights, and season-wise trends.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The dataset supports data-driven decision-making through KPIs and performance analysis.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8CFAB-A355-0E4A-72A2-CE566A965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B96D5E-3214-CB01-4841-C720566F1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207622" y="270632"/>
            <a:ext cx="8520600" cy="10392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400" b="1" dirty="0"/>
              <a:t>List the top 10 players according to their strike </a:t>
            </a:r>
            <a:br>
              <a:rPr lang="en-GB" sz="2400" b="1" dirty="0"/>
            </a:br>
            <a:r>
              <a:rPr lang="en-GB" sz="2400" b="1" dirty="0"/>
              <a:t>rate in the last 4 seasons.</a:t>
            </a:r>
            <a:br>
              <a:rPr lang="en-IN" sz="2400" b="1" dirty="0"/>
            </a:br>
            <a:endParaRPr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8ECEE5-3D22-1827-ADA8-4768B3596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39B1478-6A92-39A8-71D3-5F2779A893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0832115"/>
              </p:ext>
            </p:extLst>
          </p:nvPr>
        </p:nvGraphicFramePr>
        <p:xfrm>
          <a:off x="4572000" y="158047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9D0A6F-F8BC-188B-8FBD-7AF2FD1269F3}"/>
              </a:ext>
            </a:extLst>
          </p:cNvPr>
          <p:cNvSpPr txBox="1"/>
          <p:nvPr/>
        </p:nvSpPr>
        <p:spPr>
          <a:xfrm>
            <a:off x="0" y="1566219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RV Gomez </a:t>
            </a:r>
            <a:r>
              <a:rPr lang="en-IN" dirty="0"/>
              <a:t>recorded the highest strike rate of 400.00, making him the most aggressive batsman in the last four seasons.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AN Ahmed (233.33) and CR Brathwaite (207.50) also achieved excellent strike rates, indicating highly impactful batting performances.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Top 10 players all maintained a strike rate above 169.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416199-6F58-5014-5824-189E0FF40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713144" y="440115"/>
            <a:ext cx="8520600" cy="8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>
              <a:buSzPct val="39286"/>
            </a:pPr>
            <a:r>
              <a:rPr lang="en-GB" sz="2700" b="1" dirty="0"/>
              <a:t>What are the average runs scored by each batsman considering all the seasons?</a:t>
            </a:r>
            <a:br>
              <a:rPr lang="en-IN" dirty="0"/>
            </a:br>
            <a:endParaRPr dirty="0"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2"/>
          </p:nvPr>
        </p:nvSpPr>
        <p:spPr>
          <a:xfrm>
            <a:off x="7144050" y="5695283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8A2805-4134-1B33-CC24-74EDBF9F5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85DCAF0-05FF-B57D-A09E-A481076A69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7353565"/>
              </p:ext>
            </p:extLst>
          </p:nvPr>
        </p:nvGraphicFramePr>
        <p:xfrm>
          <a:off x="4973444" y="1753267"/>
          <a:ext cx="41705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96DA3E-3C29-8453-0225-EBD4AB815CE1}"/>
              </a:ext>
            </a:extLst>
          </p:cNvPr>
          <p:cNvSpPr txBox="1"/>
          <p:nvPr/>
        </p:nvSpPr>
        <p:spPr>
          <a:xfrm>
            <a:off x="0" y="2034957"/>
            <a:ext cx="558304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RV Gomez recorded the highest average runs </a:t>
            </a:r>
          </a:p>
          <a:p>
            <a:r>
              <a:rPr lang="en-US" dirty="0"/>
              <a:t>      per ball (4.00), followed by AN Ahmed (2.33) </a:t>
            </a:r>
          </a:p>
          <a:p>
            <a:r>
              <a:rPr lang="en-US" dirty="0"/>
              <a:t>      and CR Brathwaite (2.18).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Most batsmen maintained an average between</a:t>
            </a:r>
          </a:p>
          <a:p>
            <a:r>
              <a:rPr lang="en-US" dirty="0"/>
              <a:t>     1.30 and 2.00 runs per ball, indicating consistent</a:t>
            </a:r>
          </a:p>
          <a:p>
            <a:r>
              <a:rPr lang="en-US" dirty="0"/>
              <a:t>      batting performance across all IPL seasons.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EF368C-EDEB-95B6-3368-BA85C7045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1033345" y="310763"/>
            <a:ext cx="8170128" cy="10566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List all the players who have average runs scored greater than the overall average and who have taken wickets greater than the overall average.</a:t>
            </a:r>
            <a:br>
              <a:rPr lang="en-IN" sz="2000" b="1" dirty="0"/>
            </a:br>
            <a:endParaRPr sz="2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7B681F-EBDA-4415-E06A-7C47EEF2B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29207D2-B98A-73EF-9856-35D5DA533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9696235"/>
              </p:ext>
            </p:extLst>
          </p:nvPr>
        </p:nvGraphicFramePr>
        <p:xfrm>
          <a:off x="4572000" y="228553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A008BA-F2EF-EFEF-503F-4788125D4685}"/>
              </a:ext>
            </a:extLst>
          </p:cNvPr>
          <p:cNvSpPr txBox="1"/>
          <p:nvPr/>
        </p:nvSpPr>
        <p:spPr>
          <a:xfrm>
            <a:off x="0" y="1991953"/>
            <a:ext cx="46351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AN Ahmed achieved the highest batting average (2.33) among players who also took above-average wickets, showing excellent all-round performance.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JP Faulkner (122 wickets), Harbhajan Singh (118 wickets), and CH Morris / SR Watson / R Vinay Kumar (91 wickets each) were the most effective all-round contributors.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EEB693-C8DA-B0CA-A650-4D66ED5DF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0" y="1815974"/>
            <a:ext cx="463147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Right-arm medium bowlers dominated the tournament with 1,173 wickets, making them the most successful bowling style.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Right-arm fast-medium (735) and Right-arm medium-fast (642) were the next best-performing pace bowling styles, consistently taking a high number of wickets.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200722" y="3940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SzPct val="39286"/>
            </a:pPr>
            <a:r>
              <a:rPr lang="en-GB" sz="2400" b="1" dirty="0"/>
              <a:t>What is the impact of bowling style on </a:t>
            </a:r>
            <a:br>
              <a:rPr lang="en-GB" sz="2400" b="1" dirty="0"/>
            </a:br>
            <a:r>
              <a:rPr lang="en-GB" sz="2400" b="1" dirty="0"/>
              <a:t>wickets taken?</a:t>
            </a:r>
            <a:br>
              <a:rPr lang="en-IN" sz="2400" b="1" dirty="0"/>
            </a:br>
            <a:endParaRPr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9190EE-8EC2-3ECC-E34A-388F1EF8B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8568FEE-D534-DDE4-E437-10EFC3B02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710835"/>
              </p:ext>
            </p:extLst>
          </p:nvPr>
        </p:nvGraphicFramePr>
        <p:xfrm>
          <a:off x="4572000" y="1406029"/>
          <a:ext cx="4572000" cy="3387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0DC6004-AC54-E472-7A8E-307B5E157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0" y="1927822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</a:rPr>
              <a:t>Virat Kohli scored the highest runs (2472), followed by David Warner (2348) and AB de Villiers (1968).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</a:rPr>
              <a:t>Ravindra Jadeja (101 wickets), Shane Watson (91 wickets), and Kieron Pollard (44 wickets) stand out as the best all-round contributors.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519856" y="25491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 fontAlgn="base"/>
            <a:r>
              <a:rPr lang="en-GB" sz="2700" b="1" dirty="0"/>
              <a:t>Suggest some of the players who would be best</a:t>
            </a:r>
            <a:br>
              <a:rPr lang="en-GB" sz="2700" b="1" dirty="0"/>
            </a:br>
            <a:r>
              <a:rPr lang="en-GB" sz="2700" b="1" dirty="0"/>
              <a:t> fit for the team.</a:t>
            </a:r>
            <a:br>
              <a:rPr lang="en-IN" dirty="0"/>
            </a:br>
            <a:r>
              <a:rPr lang="en-GB" dirty="0"/>
              <a:t> </a:t>
            </a:r>
            <a:br>
              <a:rPr lang="en-IN" dirty="0"/>
            </a:b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D6D4E-2AD2-9651-EBE5-C7D425941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57CF77C-B445-34DA-BBA4-819132082B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156691"/>
              </p:ext>
            </p:extLst>
          </p:nvPr>
        </p:nvGraphicFramePr>
        <p:xfrm>
          <a:off x="4572000" y="178125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7E67DFC-A89C-86B6-9BAD-ADCBC69A9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0" y="1509132"/>
            <a:ext cx="3999900" cy="3296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285750" lvl="0" indent="-285750">
              <a:spcBef>
                <a:spcPts val="1400"/>
              </a:spcBef>
              <a:buFont typeface="Wingdings" panose="05000000000000000000" pitchFamily="2" charset="2"/>
              <a:buChar char="Ø"/>
            </a:pPr>
            <a:endParaRPr lang="en-US" dirty="0">
              <a:solidFill>
                <a:schemeClr val="dk1"/>
              </a:solidFill>
            </a:endParaRPr>
          </a:p>
          <a:p>
            <a:pPr marL="285750" lvl="0" indent="-285750">
              <a:spcBef>
                <a:spcPts val="1400"/>
              </a:spcBef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dk1"/>
                </a:solidFill>
              </a:rPr>
              <a:t>Players who contribute in both batting and bowling (all-rounders) provide better balance and flexibility to the team.</a:t>
            </a:r>
          </a:p>
          <a:p>
            <a:pPr marL="0" lvl="0" indent="0">
              <a:spcBef>
                <a:spcPts val="1400"/>
              </a:spcBef>
              <a:buNone/>
            </a:pPr>
            <a:endParaRPr lang="en-US" sz="1700" dirty="0">
              <a:solidFill>
                <a:schemeClr val="dk1"/>
              </a:solidFill>
            </a:endParaRPr>
          </a:p>
          <a:p>
            <a:pPr marL="0" lvl="0" indent="0">
              <a:spcBef>
                <a:spcPts val="1400"/>
              </a:spcBef>
              <a:buNone/>
            </a:pPr>
            <a:endParaRPr lang="en-US" sz="1700" dirty="0">
              <a:solidFill>
                <a:schemeClr val="dk1"/>
              </a:solidFill>
            </a:endParaRPr>
          </a:p>
          <a:p>
            <a:pPr marL="285750" lvl="0" indent="-285750">
              <a:spcBef>
                <a:spcPts val="1400"/>
              </a:spcBef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chemeClr val="dk1"/>
                </a:solidFill>
              </a:rPr>
              <a:t>Virat Kohli, Rohit Sharma, Suresh Raina, Ravindra Jadeja, Dwayne Bravo, JP Faulkner, and Shane Watson are among the best choices based on overall performance.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1090798" y="50414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What are some of the parameters that should be </a:t>
            </a:r>
            <a:br>
              <a:rPr lang="en-GB" sz="2400" b="1" dirty="0"/>
            </a:br>
            <a:r>
              <a:rPr lang="en-GB" sz="2400" b="1" dirty="0"/>
              <a:t>focused on while selecting the players?</a:t>
            </a:r>
            <a:br>
              <a:rPr lang="en-IN" sz="2400" dirty="0"/>
            </a:br>
            <a:endParaRPr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8DB206-8C0C-72CE-C4D8-BC7EE1EEC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6E76E90-7DAC-C92D-9916-7A430318D9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213455"/>
              </p:ext>
            </p:extLst>
          </p:nvPr>
        </p:nvGraphicFramePr>
        <p:xfrm>
          <a:off x="4572000" y="19111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29C99A5-1F43-CEDD-D919-DBFC12E07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547200" y="26301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400" b="1" dirty="0"/>
              <a:t>Which players offer versatility in their skills and can </a:t>
            </a:r>
            <a:br>
              <a:rPr lang="en-GB" sz="2400" b="1" dirty="0"/>
            </a:br>
            <a:r>
              <a:rPr lang="en-GB" sz="2400" b="1" dirty="0"/>
              <a:t>contribute effectively with both bat and ball? </a:t>
            </a:r>
            <a:br>
              <a:rPr lang="en-GB" sz="2400" b="1" dirty="0"/>
            </a:br>
            <a:br>
              <a:rPr lang="en-IN" sz="2400" b="1" dirty="0"/>
            </a:br>
            <a:endParaRPr sz="2400" b="1" dirty="0"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0" y="1684020"/>
            <a:ext cx="4375901" cy="2999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endParaRPr lang="en-US" sz="1400" dirty="0"/>
          </a:p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400" dirty="0"/>
              <a:t>Hardik Pandya, Mitchell Marsh, Marcus </a:t>
            </a:r>
            <a:r>
              <a:rPr lang="en-US" sz="1400" dirty="0" err="1"/>
              <a:t>Stoinis</a:t>
            </a:r>
            <a:r>
              <a:rPr lang="en-US" sz="1400" dirty="0"/>
              <a:t>, Mitchell Johnson, and Dwayne Wiese contributed effectively with both bat and ball.</a:t>
            </a:r>
          </a:p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lvl="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400" dirty="0"/>
              <a:t>Selecting versatile players improves team balance, match flexibility, and overall performance, making them ideal choices for the playing XI.</a:t>
            </a:r>
            <a:endParaRPr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F47169-DCFA-8381-209B-DFE9695AF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5536A6-894A-F1FE-946E-E93318D4A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BDCC8D8-237E-011B-9AAC-EC41374EBD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5630188"/>
              </p:ext>
            </p:extLst>
          </p:nvPr>
        </p:nvGraphicFramePr>
        <p:xfrm>
          <a:off x="4739640" y="1684020"/>
          <a:ext cx="4404360" cy="3196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788019" y="380181"/>
            <a:ext cx="8197200" cy="75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fontAlgn="base"/>
            <a:r>
              <a:rPr lang="en-GB" sz="2400" b="1" dirty="0"/>
              <a:t>What do you think could be the factors contributing </a:t>
            </a:r>
          </a:p>
          <a:p>
            <a:pPr lvl="0" algn="ctr" fontAlgn="base"/>
            <a:r>
              <a:rPr lang="en-GB" sz="2400" b="1" dirty="0"/>
              <a:t>to the high-scoring matches and the impact on viewership and team strategies?</a:t>
            </a:r>
            <a:endParaRPr lang="en-IN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370ACB-B491-73AB-B9A8-DCB1E483D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68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EBF478-B4C8-70D7-F11A-87E035147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4D81A36-4DB4-88CA-4708-723796AC53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0409693"/>
              </p:ext>
            </p:extLst>
          </p:nvPr>
        </p:nvGraphicFramePr>
        <p:xfrm>
          <a:off x="4572000" y="23227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2C57939-FB38-3D5F-D7CF-CFE85D300A82}"/>
              </a:ext>
            </a:extLst>
          </p:cNvPr>
          <p:cNvSpPr txBox="1"/>
          <p:nvPr/>
        </p:nvSpPr>
        <p:spPr>
          <a:xfrm>
            <a:off x="0" y="2085663"/>
            <a:ext cx="42040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RCB recorded the highest team total (263 runs), followed by other strong batting performances from Chennai Super Kings, Mumbai Indians, and Kings XI Punjab.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High-scoring matches are mainly influenced by batting-friendly pitches, powerful batting line-ups, small boundaries, and venue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	</a:t>
            </a:r>
            <a:endParaRPr dirty="0"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698275" y="477856"/>
            <a:ext cx="8520600" cy="1209426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39700" indent="0">
              <a:buClr>
                <a:srgbClr val="000000"/>
              </a:buClr>
              <a:buSzPts val="1400"/>
              <a:buNone/>
            </a:pPr>
            <a:r>
              <a:rPr lang="en-GB" sz="9600" b="1" dirty="0"/>
              <a:t>Are there players whose presence positively influences the morale and performance of the team? </a:t>
            </a:r>
            <a:endParaRPr sz="14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CF9593-64A7-F503-D921-CDC72BDBF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EAB08B-B74B-F46C-31B5-EDD241C7B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658EBDA-B18F-E403-41A0-4CFA1E4D18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1066897"/>
              </p:ext>
            </p:extLst>
          </p:nvPr>
        </p:nvGraphicFramePr>
        <p:xfrm>
          <a:off x="4565286" y="1784958"/>
          <a:ext cx="4572000" cy="3358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DDE341-C075-13F6-9BA5-6580209D0971}"/>
              </a:ext>
            </a:extLst>
          </p:cNvPr>
          <p:cNvSpPr txBox="1"/>
          <p:nvPr/>
        </p:nvSpPr>
        <p:spPr>
          <a:xfrm>
            <a:off x="0" y="2125401"/>
            <a:ext cx="45050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Virat Kohli, David Warner, AB de Villiers, Rohit Sharma, and Suresh Raina stand out as consistent batting performers who boost team confidence through reliable run scoring.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Players with high runs and/or significant wicket-taking ability positively influence team morale, strengthen overall performance, and improve the team's chances of winning important matches.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4AC657-4405-F527-6479-4DA9C34C6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34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D5ECBB-10E1-39C3-880A-F86CFCBE5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5EE687-9F3A-2946-E028-B106893F53E3}"/>
              </a:ext>
            </a:extLst>
          </p:cNvPr>
          <p:cNvSpPr txBox="1"/>
          <p:nvPr/>
        </p:nvSpPr>
        <p:spPr>
          <a:xfrm>
            <a:off x="1364887" y="481805"/>
            <a:ext cx="6790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Which of the given players have consistently performed well in past seasons? </a:t>
            </a:r>
            <a:endParaRPr lang="en-IN" sz="2400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D7BEBDE-D7B6-0C16-EE39-1F878D2423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1389422"/>
              </p:ext>
            </p:extLst>
          </p:nvPr>
        </p:nvGraphicFramePr>
        <p:xfrm>
          <a:off x="4572000" y="1888272"/>
          <a:ext cx="4571999" cy="3255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F202CF7-8F80-0503-08E1-A30E5DA35B45}"/>
              </a:ext>
            </a:extLst>
          </p:cNvPr>
          <p:cNvSpPr txBox="1"/>
          <p:nvPr/>
        </p:nvSpPr>
        <p:spPr>
          <a:xfrm>
            <a:off x="0" y="2027523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AB de Villiers, Virat Kohli, Suresh Raina, David Warner, and Ajinkya Rahane showed consistent run-scoring performances across multiple IPL seasons.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line chart highlights season-wise performance trends, making it easy to identify players whose performance remained stable or improved over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0" y="2045487"/>
            <a:ext cx="4572000" cy="3089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dk1"/>
                </a:solidFill>
              </a:rPr>
              <a:t>Teams with higher Total Runs and Total Wickets than the previous season are classified as Better, while lower values indicate Worse performance. Mixed results are marked as Mixed.</a:t>
            </a:r>
          </a:p>
          <a:p>
            <a:pPr lvl="0" indent="-317500">
              <a:buClr>
                <a:schemeClr val="dk1"/>
              </a:buClr>
              <a:buSzPts val="1400"/>
              <a:buAutoNum type="arabicPeriod"/>
            </a:pPr>
            <a:endParaRPr lang="en-US" sz="1400" dirty="0">
              <a:solidFill>
                <a:schemeClr val="dk1"/>
              </a:solidFill>
            </a:endParaRPr>
          </a:p>
          <a:p>
            <a:pPr lvl="0" indent="-317500">
              <a:buClr>
                <a:schemeClr val="dk1"/>
              </a:buClr>
              <a:buSzPts val="1400"/>
              <a:buAutoNum type="arabicPeriod"/>
            </a:pPr>
            <a:endParaRPr lang="en-US" sz="1400" dirty="0">
              <a:solidFill>
                <a:schemeClr val="dk1"/>
              </a:solidFill>
            </a:endParaRPr>
          </a:p>
          <a:p>
            <a:pPr lvl="0" indent="-317500">
              <a:buClr>
                <a:schemeClr val="dk1"/>
              </a:buClr>
              <a:buSzPts val="1400"/>
              <a:buAutoNum type="arabicPeriod"/>
            </a:pPr>
            <a:endParaRPr lang="en-US" sz="1400" dirty="0">
              <a:solidFill>
                <a:schemeClr val="dk1"/>
              </a:solidFill>
            </a:endParaRPr>
          </a:p>
          <a:p>
            <a:pPr lvl="0" indent="-317500">
              <a:buClr>
                <a:schemeClr val="dk1"/>
              </a:buClr>
              <a:buSzPts val="1400"/>
              <a:buAutoNum type="arabicPeriod"/>
            </a:pPr>
            <a:endParaRPr lang="en-US" sz="1400" dirty="0">
              <a:solidFill>
                <a:schemeClr val="dk1"/>
              </a:solidFill>
            </a:endParaRPr>
          </a:p>
          <a:p>
            <a:pPr lvl="0" indent="-317500"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dk1"/>
                </a:solidFill>
              </a:rPr>
              <a:t>The visualization clearly shows season-to-season changes in team performance, making it easy to compare trends across different teams.</a:t>
            </a:r>
          </a:p>
        </p:txBody>
      </p:sp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675439" y="357202"/>
            <a:ext cx="8468561" cy="541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-IN" sz="2700" b="1" dirty="0"/>
              <a:t>Has the team's performance improved compared to the previous year based on runs scored and wickets taken?</a:t>
            </a:r>
            <a:br>
              <a:rPr lang="en-IN" dirty="0"/>
            </a:br>
            <a:br>
              <a:rPr lang="en-IN" dirty="0"/>
            </a:b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FA9484-3EDF-F308-257C-4751B3BEF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7B8022-6075-4CAB-4377-E7BA841FA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582B83A-CF7C-F861-AA01-C78C133D6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0290779"/>
              </p:ext>
            </p:extLst>
          </p:nvPr>
        </p:nvGraphicFramePr>
        <p:xfrm>
          <a:off x="4572000" y="221862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C2EFB9-4FA9-5ECE-3594-9E9BD4B3B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E3B582-231F-6CF2-D7A7-29CA6AE3F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14868"/>
            <a:ext cx="1753017" cy="380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FAE7F2-6C79-7EFD-D6CB-A87AEC14F901}"/>
              </a:ext>
            </a:extLst>
          </p:cNvPr>
          <p:cNvSpPr txBox="1"/>
          <p:nvPr/>
        </p:nvSpPr>
        <p:spPr>
          <a:xfrm>
            <a:off x="889309" y="551701"/>
            <a:ext cx="7365381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>
              <a:lnSpc>
                <a:spcPct val="115000"/>
              </a:lnSpc>
              <a:buClr>
                <a:srgbClr val="595959"/>
              </a:buClr>
              <a:buSzPts val="1650"/>
            </a:pPr>
            <a:r>
              <a:rPr lang="en-GB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Can you derive more KPIs for the team strategy?</a:t>
            </a:r>
            <a:endParaRPr lang="en-IN" sz="2400" b="1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D9ABD-ECBC-E348-7BBD-F30D1C792308}"/>
              </a:ext>
            </a:extLst>
          </p:cNvPr>
          <p:cNvSpPr txBox="1"/>
          <p:nvPr/>
        </p:nvSpPr>
        <p:spPr>
          <a:xfrm>
            <a:off x="847491" y="1439665"/>
            <a:ext cx="8051181" cy="338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Net Run Rate (NRR) – Measures overall team performance across the season.</a:t>
            </a:r>
          </a:p>
          <a:p>
            <a:pPr marL="628650" indent="-1714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Batting Strike Rate – Average scoring speed of the batting lineup.</a:t>
            </a:r>
          </a:p>
          <a:p>
            <a:pPr marL="628650" indent="-1714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Bowling Strike Rate – Average balls required to take a wicket.</a:t>
            </a:r>
          </a:p>
          <a:p>
            <a:pPr marL="628650" indent="-1714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Boundary Percentage – Percentage of runs scored through fours and sixes.</a:t>
            </a: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Dot Ball Percentage – Percentage of deliveries where no runs were scored.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Average Partnership Runs – Average runs added per wicket partnership.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Top Order Contribution – Runs scored by the top 3 batsmen.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59ACEA-E700-5BD9-89E8-9B472624F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AC153A-D235-1F63-5F13-CA410BEB5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BFC151-044C-F11E-6953-764C567E017E}"/>
              </a:ext>
            </a:extLst>
          </p:cNvPr>
          <p:cNvSpPr txBox="1"/>
          <p:nvPr/>
        </p:nvSpPr>
        <p:spPr>
          <a:xfrm>
            <a:off x="133815" y="1064122"/>
            <a:ext cx="8876370" cy="3982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Powerplay Wickets Taken – Wickets picked up during the first six overs.</a:t>
            </a:r>
            <a:endParaRPr lang="en-IN" sz="1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28650" indent="-1714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IN" sz="1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Home vs Away Win Percentage – Performance comparison at home and away venues.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Player of the Match Contribution – Number of awards won by players from the team.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Fielding Efficiency – Catches, run-outs, and stumpings completed.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Winning Margin Analysis – Average margin of victory by runs or wickets.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Close Match Success Rate – Win percentage in matches decided by fewer than 10 runs or 3 wickets.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Batting First vs Chasing Performance – Comparison of wins in both situations.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/>
        </p:nvSpPr>
        <p:spPr>
          <a:xfrm>
            <a:off x="1072450" y="435425"/>
            <a:ext cx="464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2419569" y="319564"/>
            <a:ext cx="6055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400" b="1" dirty="0"/>
              <a:t>IPL Project Summary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DBE32D-52A9-FD16-0C11-5D364C9CA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647670-47B8-198A-55E5-9BED1BB7B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816DDD-FB38-97F9-D9E1-0DA77056D787}"/>
              </a:ext>
            </a:extLst>
          </p:cNvPr>
          <p:cNvSpPr txBox="1"/>
          <p:nvPr/>
        </p:nvSpPr>
        <p:spPr>
          <a:xfrm>
            <a:off x="381753" y="1729541"/>
            <a:ext cx="809361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Identified the top-performing batsmen, bowlers, and all-rounders based on runs and wickets.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Analyzed</a:t>
            </a:r>
            <a:r>
              <a:rPr lang="en-IN" dirty="0"/>
              <a:t> season-wise team and player performance to measure consistency and improvement.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Compared team performance with previous seasons using runs scored and wickets taken.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Evaluated the impact of venue, toss, batting order, and match conditions on team success.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Derived strategic KPIs such as Win Percentage, Run Rate, Economy Rate, Chasing Success Rate, and Partnership Runs.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04376-0C41-B3F7-0277-9ADEC8AC970F}"/>
              </a:ext>
            </a:extLst>
          </p:cNvPr>
          <p:cNvSpPr txBox="1"/>
          <p:nvPr/>
        </p:nvSpPr>
        <p:spPr>
          <a:xfrm>
            <a:off x="846132" y="108252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Key Findings:-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588E93-F581-642C-8D7A-9DBE74644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7DE60C-0C43-84F5-B4F2-00E9561E4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69F58E-1775-1150-07CD-D5EAE8218487}"/>
              </a:ext>
            </a:extLst>
          </p:cNvPr>
          <p:cNvSpPr txBox="1"/>
          <p:nvPr/>
        </p:nvSpPr>
        <p:spPr>
          <a:xfrm>
            <a:off x="0" y="1814495"/>
            <a:ext cx="46939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Retain consistent performers and impactful all-rounders to strengthen the squad.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Improve bowling performance, especially during powerplay and death overs.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 venue-specific and toss-based strategies to maximize winning chances.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Focus on building strong batting partnerships and maintaining consistent performances across seasons.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35E84-E91E-05DA-6738-730BE8A608CA}"/>
              </a:ext>
            </a:extLst>
          </p:cNvPr>
          <p:cNvSpPr txBox="1"/>
          <p:nvPr/>
        </p:nvSpPr>
        <p:spPr>
          <a:xfrm>
            <a:off x="224790" y="880139"/>
            <a:ext cx="4777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Business Recommendations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A89A8-33FE-A2F7-05CD-7DB7DE4922F0}"/>
              </a:ext>
            </a:extLst>
          </p:cNvPr>
          <p:cNvSpPr txBox="1"/>
          <p:nvPr/>
        </p:nvSpPr>
        <p:spPr>
          <a:xfrm>
            <a:off x="5203485" y="2259862"/>
            <a:ext cx="40244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Developed SQL queries to </a:t>
            </a:r>
            <a:r>
              <a:rPr lang="en-IN" dirty="0" err="1"/>
              <a:t>analyze</a:t>
            </a:r>
            <a:r>
              <a:rPr lang="en-IN" dirty="0"/>
              <a:t> IPL data and extract meaningful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Converted raw cricket data into actionable dashboards and performance metrics.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Enabled data-driven decision-making for team strategy, player selection, and season planning.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31FDF6-859B-5F74-3B52-290A9CE8CE28}"/>
              </a:ext>
            </a:extLst>
          </p:cNvPr>
          <p:cNvSpPr txBox="1"/>
          <p:nvPr/>
        </p:nvSpPr>
        <p:spPr>
          <a:xfrm>
            <a:off x="6022494" y="1513780"/>
            <a:ext cx="26235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Project Outcome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20792F-02E1-1266-8422-ADFD69E7D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019" cy="541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3AC0D8-710C-9A67-66B7-08CF5F039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983" y="0"/>
            <a:ext cx="1753017" cy="3801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61120C-A629-C3F5-ECEE-BB43EAF88A2C}"/>
              </a:ext>
            </a:extLst>
          </p:cNvPr>
          <p:cNvSpPr txBox="1"/>
          <p:nvPr/>
        </p:nvSpPr>
        <p:spPr>
          <a:xfrm>
            <a:off x="1754459" y="1519573"/>
            <a:ext cx="41445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Data-driven analysis helps teams make better decisions in player selection and match planning.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Consistent performers and strong all-rounders have the greatest impact on team success.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Team performance depends on batting strength, bowling efficiency, venue conditions, and match strategy.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Continuous monitoring of KPIs can improve team performance and increase winning probability.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B5DEF-3429-818F-60A6-0D8D011798FE}"/>
              </a:ext>
            </a:extLst>
          </p:cNvPr>
          <p:cNvSpPr txBox="1"/>
          <p:nvPr/>
        </p:nvSpPr>
        <p:spPr>
          <a:xfrm>
            <a:off x="2088995" y="61345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Conclusion</a:t>
            </a:r>
          </a:p>
        </p:txBody>
      </p:sp>
      <p:pic>
        <p:nvPicPr>
          <p:cNvPr id="12" name="Google Shape;174;p32">
            <a:extLst>
              <a:ext uri="{FF2B5EF4-FFF2-40B4-BE49-F238E27FC236}">
                <a16:creationId xmlns:a16="http://schemas.microsoft.com/office/drawing/2014/main" id="{D01BF660-E6CC-E9F7-F1BC-236355E2C9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8475" y="3953025"/>
            <a:ext cx="1375525" cy="119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750" y="857250"/>
            <a:ext cx="60864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1521</Words>
  <Application>Microsoft Office PowerPoint</Application>
  <PresentationFormat>On-screen Show (16:9)</PresentationFormat>
  <Paragraphs>216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Lato</vt:lpstr>
      <vt:lpstr>Arial</vt:lpstr>
      <vt:lpstr>Wingdings</vt:lpstr>
      <vt:lpstr>Simple Light</vt:lpstr>
      <vt:lpstr>IPL Analysis</vt:lpstr>
      <vt:lpstr>PowerPoint Presentation</vt:lpstr>
      <vt:lpstr>Dataset Overview</vt:lpstr>
      <vt:lpstr>List the top 10 players according to their strike  rate in the last 4 seasons. </vt:lpstr>
      <vt:lpstr>What are the average runs scored by each batsman considering all the seasons? </vt:lpstr>
      <vt:lpstr>List all the players who have average runs scored greater than the overall average and who have taken wickets greater than the overall average. </vt:lpstr>
      <vt:lpstr>What is the impact of bowling style on  wickets taken? </vt:lpstr>
      <vt:lpstr>Suggest some of the players who would be best  fit for the team.   </vt:lpstr>
      <vt:lpstr>What are some of the parameters that should be  focused on while selecting the players? </vt:lpstr>
      <vt:lpstr>Which players offer versatility in their skills and can  contribute effectively with both bat and ball?   </vt:lpstr>
      <vt:lpstr>PowerPoint Presentation</vt:lpstr>
      <vt:lpstr> </vt:lpstr>
      <vt:lpstr>PowerPoint Presentation</vt:lpstr>
      <vt:lpstr>Has the team's performance improved compared to the previous year based on runs scored and wickets taken?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Sunny Kumar</dc:creator>
  <cp:lastModifiedBy>SUMIT SINGH</cp:lastModifiedBy>
  <cp:revision>4</cp:revision>
  <dcterms:modified xsi:type="dcterms:W3CDTF">2026-09-28T05:44:16Z</dcterms:modified>
</cp:coreProperties>
</file>